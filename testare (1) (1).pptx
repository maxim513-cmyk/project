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9" r:id="rId1"/>
  </p:sldMasterIdLst>
  <p:sldIdLst>
    <p:sldId id="256" r:id="rId2"/>
    <p:sldId id="257" r:id="rId3"/>
    <p:sldId id="258"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03645-DCFE-47FC-8A66-F9A45A422ED9}"/>
              </a:ext>
            </a:extLst>
          </p:cNvPr>
          <p:cNvSpPr>
            <a:spLocks noGrp="1"/>
          </p:cNvSpPr>
          <p:nvPr>
            <p:ph type="ctrTitle"/>
          </p:nvPr>
        </p:nvSpPr>
        <p:spPr>
          <a:xfrm>
            <a:off x="3221150" y="1247140"/>
            <a:ext cx="7891760" cy="3450844"/>
          </a:xfrm>
        </p:spPr>
        <p:txBody>
          <a:bodyPr anchor="t"/>
          <a:lstStyle>
            <a:lvl1pPr algn="l">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AD509FA-7BD7-4D45-998F-0E43038F179C}"/>
              </a:ext>
            </a:extLst>
          </p:cNvPr>
          <p:cNvSpPr>
            <a:spLocks noGrp="1"/>
          </p:cNvSpPr>
          <p:nvPr>
            <p:ph type="subTitle" idx="1"/>
          </p:nvPr>
        </p:nvSpPr>
        <p:spPr>
          <a:xfrm>
            <a:off x="3221150" y="4818126"/>
            <a:ext cx="7891760" cy="1268984"/>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Rectangle 8">
            <a:extLst>
              <a:ext uri="{FF2B5EF4-FFF2-40B4-BE49-F238E27FC236}">
                <a16:creationId xmlns:a16="http://schemas.microsoft.com/office/drawing/2014/main" id="{2D03A0B2-4A2F-D846-A5E6-FB7CB9A031F7}"/>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7F573F1D-73A7-FB41-BCAD-FC9AA7DEF4F5}"/>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Date Placeholder 6">
            <a:extLst>
              <a:ext uri="{FF2B5EF4-FFF2-40B4-BE49-F238E27FC236}">
                <a16:creationId xmlns:a16="http://schemas.microsoft.com/office/drawing/2014/main" id="{DDCFA51C-E4FE-4BF2-A2DD-E32DE57D8AD0}"/>
              </a:ext>
            </a:extLst>
          </p:cNvPr>
          <p:cNvSpPr>
            <a:spLocks noGrp="1"/>
          </p:cNvSpPr>
          <p:nvPr>
            <p:ph type="dt" sz="half" idx="10"/>
          </p:nvPr>
        </p:nvSpPr>
        <p:spPr/>
        <p:txBody>
          <a:bodyPr/>
          <a:lstStyle/>
          <a:p>
            <a:pPr algn="r"/>
            <a:fld id="{1449AA12-8195-4182-A7AC-2E7E59DFBDAF}" type="datetimeFigureOut">
              <a:rPr lang="en-US" smtClean="0"/>
              <a:pPr algn="r"/>
              <a:t>12/6/2024</a:t>
            </a:fld>
            <a:endParaRPr lang="en-US"/>
          </a:p>
        </p:txBody>
      </p:sp>
      <p:sp>
        <p:nvSpPr>
          <p:cNvPr id="8" name="Footer Placeholder 7">
            <a:extLst>
              <a:ext uri="{FF2B5EF4-FFF2-40B4-BE49-F238E27FC236}">
                <a16:creationId xmlns:a16="http://schemas.microsoft.com/office/drawing/2014/main" id="{5A438448-FC2D-4A2F-B7C0-04AC50311EAA}"/>
              </a:ext>
            </a:extLst>
          </p:cNvPr>
          <p:cNvSpPr>
            <a:spLocks noGrp="1"/>
          </p:cNvSpPr>
          <p:nvPr>
            <p:ph type="ftr" sz="quarter" idx="11"/>
          </p:nvPr>
        </p:nvSpPr>
        <p:spPr>
          <a:xfrm>
            <a:off x="3221150" y="6292850"/>
            <a:ext cx="4114800" cy="365125"/>
          </a:xfrm>
        </p:spPr>
        <p:txBody>
          <a:bodyPr/>
          <a:lstStyle/>
          <a:p>
            <a:pPr algn="l"/>
            <a:endParaRPr lang="en-US" dirty="0"/>
          </a:p>
        </p:txBody>
      </p:sp>
      <p:sp>
        <p:nvSpPr>
          <p:cNvPr id="11" name="Slide Number Placeholder 10">
            <a:extLst>
              <a:ext uri="{FF2B5EF4-FFF2-40B4-BE49-F238E27FC236}">
                <a16:creationId xmlns:a16="http://schemas.microsoft.com/office/drawing/2014/main" id="{3B07C67E-EAD9-47D8-9559-4E091BC03BA8}"/>
              </a:ext>
            </a:extLst>
          </p:cNvPr>
          <p:cNvSpPr>
            <a:spLocks noGrp="1"/>
          </p:cNvSpPr>
          <p:nvPr>
            <p:ph type="sldNum" sz="quarter" idx="12"/>
          </p:nvPr>
        </p:nvSpPr>
        <p:spPr/>
        <p:txBody>
          <a:bodyPr/>
          <a:lstStyle/>
          <a:p>
            <a:fld id="{14DFC975-2FD7-44A5-9E78-ECBA46156075}" type="slidenum">
              <a:rPr lang="en-US" smtClean="0"/>
              <a:t>‹#›</a:t>
            </a:fld>
            <a:endParaRPr lang="en-US"/>
          </a:p>
        </p:txBody>
      </p:sp>
    </p:spTree>
    <p:extLst>
      <p:ext uri="{BB962C8B-B14F-4D97-AF65-F5344CB8AC3E}">
        <p14:creationId xmlns:p14="http://schemas.microsoft.com/office/powerpoint/2010/main" val="3434011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C5DD8-8608-4B55-96D8-0AB848C028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A3CC0B-7B21-422D-937D-FBD49EE939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0EAFA-89BC-43E9-8EB9-B6B3CD136E43}"/>
              </a:ext>
            </a:extLst>
          </p:cNvPr>
          <p:cNvSpPr>
            <a:spLocks noGrp="1"/>
          </p:cNvSpPr>
          <p:nvPr>
            <p:ph type="dt" sz="half" idx="10"/>
          </p:nvPr>
        </p:nvSpPr>
        <p:spPr/>
        <p:txBody>
          <a:bodyPr/>
          <a:lstStyle/>
          <a:p>
            <a:fld id="{1449AA12-8195-4182-A7AC-2E7E59DFBDAF}" type="datetimeFigureOut">
              <a:rPr lang="en-US" smtClean="0"/>
              <a:t>12/6/2024</a:t>
            </a:fld>
            <a:endParaRPr lang="en-US"/>
          </a:p>
        </p:txBody>
      </p:sp>
      <p:sp>
        <p:nvSpPr>
          <p:cNvPr id="5" name="Footer Placeholder 4">
            <a:extLst>
              <a:ext uri="{FF2B5EF4-FFF2-40B4-BE49-F238E27FC236}">
                <a16:creationId xmlns:a16="http://schemas.microsoft.com/office/drawing/2014/main" id="{A3850944-70C2-487F-A102-58CDFB94C3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77B7B8-A972-455E-9D8C-9B8026A5306D}"/>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51" name="Rectangle 50">
            <a:extLst>
              <a:ext uri="{FF2B5EF4-FFF2-40B4-BE49-F238E27FC236}">
                <a16:creationId xmlns:a16="http://schemas.microsoft.com/office/drawing/2014/main" id="{CCC95119-6D9D-3542-9E0E-4171B33DC9C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FC92F19-7317-314C-81B7-43B8B687F4E4}"/>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906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087F2-AA0E-4F0C-9AD6-2353021573D7}"/>
              </a:ext>
            </a:extLst>
          </p:cNvPr>
          <p:cNvSpPr>
            <a:spLocks noGrp="1"/>
          </p:cNvSpPr>
          <p:nvPr>
            <p:ph type="title"/>
          </p:nvPr>
        </p:nvSpPr>
        <p:spPr>
          <a:xfrm>
            <a:off x="3221150" y="1251674"/>
            <a:ext cx="7891760" cy="2914688"/>
          </a:xfrm>
        </p:spPr>
        <p:txBody>
          <a:bodyPr anchor="t"/>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7937807-96B8-4061-A845-1287216BF53B}"/>
              </a:ext>
            </a:extLst>
          </p:cNvPr>
          <p:cNvSpPr>
            <a:spLocks noGrp="1"/>
          </p:cNvSpPr>
          <p:nvPr>
            <p:ph type="body" idx="1"/>
          </p:nvPr>
        </p:nvSpPr>
        <p:spPr>
          <a:xfrm>
            <a:off x="3221150" y="4818126"/>
            <a:ext cx="7891760" cy="1271524"/>
          </a:xfrm>
        </p:spPr>
        <p:txBody>
          <a:bodyPr anchor="b"/>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2AF346-9503-4767-BCB4-84B823E27419}"/>
              </a:ext>
            </a:extLst>
          </p:cNvPr>
          <p:cNvSpPr>
            <a:spLocks noGrp="1"/>
          </p:cNvSpPr>
          <p:nvPr>
            <p:ph type="dt" sz="half" idx="10"/>
          </p:nvPr>
        </p:nvSpPr>
        <p:spPr/>
        <p:txBody>
          <a:bodyPr/>
          <a:lstStyle/>
          <a:p>
            <a:fld id="{1449AA12-8195-4182-A7AC-2E7E59DFBDAF}" type="datetimeFigureOut">
              <a:rPr lang="en-US" smtClean="0"/>
              <a:t>12/6/2024</a:t>
            </a:fld>
            <a:endParaRPr lang="en-US"/>
          </a:p>
        </p:txBody>
      </p:sp>
      <p:sp>
        <p:nvSpPr>
          <p:cNvPr id="5" name="Footer Placeholder 4">
            <a:extLst>
              <a:ext uri="{FF2B5EF4-FFF2-40B4-BE49-F238E27FC236}">
                <a16:creationId xmlns:a16="http://schemas.microsoft.com/office/drawing/2014/main" id="{5259605B-A39D-4BEE-B46F-16CF13FA0BA7}"/>
              </a:ext>
            </a:extLst>
          </p:cNvPr>
          <p:cNvSpPr>
            <a:spLocks noGrp="1"/>
          </p:cNvSpPr>
          <p:nvPr>
            <p:ph type="ftr" sz="quarter" idx="11"/>
          </p:nvPr>
        </p:nvSpPr>
        <p:spPr>
          <a:xfrm>
            <a:off x="3221150" y="6292850"/>
            <a:ext cx="4114800" cy="365125"/>
          </a:xfrm>
        </p:spPr>
        <p:txBody>
          <a:bodyPr/>
          <a:lstStyle/>
          <a:p>
            <a:endParaRPr lang="en-US"/>
          </a:p>
        </p:txBody>
      </p:sp>
      <p:sp>
        <p:nvSpPr>
          <p:cNvPr id="6" name="Slide Number Placeholder 5">
            <a:extLst>
              <a:ext uri="{FF2B5EF4-FFF2-40B4-BE49-F238E27FC236}">
                <a16:creationId xmlns:a16="http://schemas.microsoft.com/office/drawing/2014/main" id="{2575834A-942D-410B-A430-43F9E01FC5F9}"/>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4AD199D5-C485-D449-9804-F755E0907B51}"/>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4290D1A7-C550-2540-86C9-EB0FB2EB2E71}"/>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2311751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FCAD2-C321-4E81-AEBE-696A90E2D9A4}"/>
              </a:ext>
            </a:extLst>
          </p:cNvPr>
          <p:cNvSpPr>
            <a:spLocks noGrp="1"/>
          </p:cNvSpPr>
          <p:nvPr>
            <p:ph type="title"/>
          </p:nvPr>
        </p:nvSpPr>
        <p:spPr>
          <a:xfrm>
            <a:off x="1587710" y="455362"/>
            <a:ext cx="9486690" cy="155041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3EF20CD1-0E09-4415-911C-0F5B7341DD80}"/>
              </a:ext>
            </a:extLst>
          </p:cNvPr>
          <p:cNvSpPr>
            <a:spLocks noGrp="1"/>
          </p:cNvSpPr>
          <p:nvPr>
            <p:ph sz="half" idx="1"/>
          </p:nvPr>
        </p:nvSpPr>
        <p:spPr>
          <a:xfrm>
            <a:off x="1587709" y="2160016"/>
            <a:ext cx="4425437" cy="39270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A963EDD-031A-49CA-9130-067550BD0D55}"/>
              </a:ext>
            </a:extLst>
          </p:cNvPr>
          <p:cNvSpPr>
            <a:spLocks noGrp="1"/>
          </p:cNvSpPr>
          <p:nvPr>
            <p:ph sz="half" idx="2"/>
          </p:nvPr>
        </p:nvSpPr>
        <p:spPr>
          <a:xfrm>
            <a:off x="6648963" y="2160016"/>
            <a:ext cx="4425437" cy="39270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0808E79-A0BE-49F3-AE92-7EE5CC78F1A6}"/>
              </a:ext>
            </a:extLst>
          </p:cNvPr>
          <p:cNvSpPr>
            <a:spLocks noGrp="1"/>
          </p:cNvSpPr>
          <p:nvPr>
            <p:ph type="dt" sz="half" idx="10"/>
          </p:nvPr>
        </p:nvSpPr>
        <p:spPr/>
        <p:txBody>
          <a:bodyPr/>
          <a:lstStyle/>
          <a:p>
            <a:fld id="{1449AA12-8195-4182-A7AC-2E7E59DFBDAF}" type="datetimeFigureOut">
              <a:rPr lang="en-US" smtClean="0"/>
              <a:t>12/6/2024</a:t>
            </a:fld>
            <a:endParaRPr lang="en-US"/>
          </a:p>
        </p:txBody>
      </p:sp>
      <p:sp>
        <p:nvSpPr>
          <p:cNvPr id="6" name="Footer Placeholder 5">
            <a:extLst>
              <a:ext uri="{FF2B5EF4-FFF2-40B4-BE49-F238E27FC236}">
                <a16:creationId xmlns:a16="http://schemas.microsoft.com/office/drawing/2014/main" id="{2898B87C-BF1E-47CF-9A4E-FD4BE32C05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C06E71-46F6-469C-A9CA-E707EBE51B58}"/>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052659F6-6B3B-A545-A45F-FAD238210D47}"/>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80637F8-15DE-2240-8BF8-D6E57A337B1A}"/>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6837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3B26D-64DE-4314-8BD2-25FD618FB46D}"/>
              </a:ext>
            </a:extLst>
          </p:cNvPr>
          <p:cNvSpPr>
            <a:spLocks noGrp="1"/>
          </p:cNvSpPr>
          <p:nvPr>
            <p:ph type="title"/>
          </p:nvPr>
        </p:nvSpPr>
        <p:spPr>
          <a:xfrm>
            <a:off x="1591056" y="457200"/>
            <a:ext cx="9521854" cy="155448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9D77613-5CEE-4B05-A937-CD43EAAABF38}"/>
              </a:ext>
            </a:extLst>
          </p:cNvPr>
          <p:cNvSpPr>
            <a:spLocks noGrp="1"/>
          </p:cNvSpPr>
          <p:nvPr>
            <p:ph type="body" idx="1"/>
          </p:nvPr>
        </p:nvSpPr>
        <p:spPr>
          <a:xfrm>
            <a:off x="1591057"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43E4779-3B5A-4993-9C7F-FB19F1633F5D}"/>
              </a:ext>
            </a:extLst>
          </p:cNvPr>
          <p:cNvSpPr>
            <a:spLocks noGrp="1"/>
          </p:cNvSpPr>
          <p:nvPr>
            <p:ph sz="half" idx="2"/>
          </p:nvPr>
        </p:nvSpPr>
        <p:spPr>
          <a:xfrm>
            <a:off x="1591056" y="2988998"/>
            <a:ext cx="4425697" cy="3098112"/>
          </a:xfrm>
        </p:spPr>
        <p:txBody>
          <a:bodyPr/>
          <a:lstStyle>
            <a:lvl1pPr>
              <a:defRPr sz="2000"/>
            </a:lvl1pPr>
            <a:lvl2pPr>
              <a:defRPr sz="18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B51081A-685C-4C18-9AE9-425106A02F6B}"/>
              </a:ext>
            </a:extLst>
          </p:cNvPr>
          <p:cNvSpPr>
            <a:spLocks noGrp="1"/>
          </p:cNvSpPr>
          <p:nvPr>
            <p:ph type="body" sz="quarter" idx="3"/>
          </p:nvPr>
        </p:nvSpPr>
        <p:spPr>
          <a:xfrm>
            <a:off x="6687214"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780F424-FE3A-4B7D-B60C-7AEA2118A585}"/>
              </a:ext>
            </a:extLst>
          </p:cNvPr>
          <p:cNvSpPr>
            <a:spLocks noGrp="1"/>
          </p:cNvSpPr>
          <p:nvPr>
            <p:ph sz="quarter" idx="4"/>
          </p:nvPr>
        </p:nvSpPr>
        <p:spPr>
          <a:xfrm>
            <a:off x="6687214" y="2988998"/>
            <a:ext cx="4425696" cy="3098112"/>
          </a:xfrm>
        </p:spPr>
        <p:txBody>
          <a:bodyPr/>
          <a:lstStyle>
            <a:lvl1pPr>
              <a:defRPr sz="2000"/>
            </a:lvl1pPr>
            <a:lvl2pPr>
              <a:defRPr sz="1800"/>
            </a:lvl2pPr>
            <a:lvl3pPr>
              <a:defRPr sz="1600"/>
            </a:lvl3pPr>
            <a:lvl4pPr>
              <a:defRPr sz="14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864D2A96-CD7D-41BC-BDBE-5E29B7C0B325}"/>
              </a:ext>
            </a:extLst>
          </p:cNvPr>
          <p:cNvSpPr>
            <a:spLocks noGrp="1"/>
          </p:cNvSpPr>
          <p:nvPr>
            <p:ph type="dt" sz="half" idx="10"/>
          </p:nvPr>
        </p:nvSpPr>
        <p:spPr/>
        <p:txBody>
          <a:bodyPr/>
          <a:lstStyle/>
          <a:p>
            <a:fld id="{1449AA12-8195-4182-A7AC-2E7E59DFBDAF}" type="datetimeFigureOut">
              <a:rPr lang="en-US" smtClean="0"/>
              <a:t>12/6/2024</a:t>
            </a:fld>
            <a:endParaRPr lang="en-US"/>
          </a:p>
        </p:txBody>
      </p:sp>
      <p:sp>
        <p:nvSpPr>
          <p:cNvPr id="8" name="Footer Placeholder 7">
            <a:extLst>
              <a:ext uri="{FF2B5EF4-FFF2-40B4-BE49-F238E27FC236}">
                <a16:creationId xmlns:a16="http://schemas.microsoft.com/office/drawing/2014/main" id="{2CD1471D-6DDE-4E56-84E9-48136966A9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A3F451-CF28-4F57-B844-52A665440A02}"/>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2" name="Rectangle 11">
            <a:extLst>
              <a:ext uri="{FF2B5EF4-FFF2-40B4-BE49-F238E27FC236}">
                <a16:creationId xmlns:a16="http://schemas.microsoft.com/office/drawing/2014/main" id="{2D1FA03E-7A83-AB41-BB4B-25B04946559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7702630-3C98-A142-9D04-1D852974DC2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2889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22D7A-4502-49C3-BAFB-6D46F7A2E2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AB67EE-A167-43D1-9C58-7B736CF28B64}"/>
              </a:ext>
            </a:extLst>
          </p:cNvPr>
          <p:cNvSpPr>
            <a:spLocks noGrp="1"/>
          </p:cNvSpPr>
          <p:nvPr>
            <p:ph type="dt" sz="half" idx="10"/>
          </p:nvPr>
        </p:nvSpPr>
        <p:spPr/>
        <p:txBody>
          <a:bodyPr/>
          <a:lstStyle/>
          <a:p>
            <a:fld id="{1449AA12-8195-4182-A7AC-2E7E59DFBDAF}" type="datetimeFigureOut">
              <a:rPr lang="en-US" smtClean="0"/>
              <a:t>12/6/2024</a:t>
            </a:fld>
            <a:endParaRPr lang="en-US"/>
          </a:p>
        </p:txBody>
      </p:sp>
      <p:sp>
        <p:nvSpPr>
          <p:cNvPr id="4" name="Footer Placeholder 3">
            <a:extLst>
              <a:ext uri="{FF2B5EF4-FFF2-40B4-BE49-F238E27FC236}">
                <a16:creationId xmlns:a16="http://schemas.microsoft.com/office/drawing/2014/main" id="{3C5605B7-599B-450E-9E8D-2A9AE3F30F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5BD2B1-8C5F-430B-A0F2-CD5281AB75E2}"/>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8" name="Rectangle 7">
            <a:extLst>
              <a:ext uri="{FF2B5EF4-FFF2-40B4-BE49-F238E27FC236}">
                <a16:creationId xmlns:a16="http://schemas.microsoft.com/office/drawing/2014/main" id="{1DBA877B-B45A-BD48-8FC8-E752E7D7174F}"/>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BF3343D-2AFA-B544-B40A-315F5EC680B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5398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308016-71BA-4CD3-918D-51613F7F4DF5}"/>
              </a:ext>
            </a:extLst>
          </p:cNvPr>
          <p:cNvSpPr>
            <a:spLocks noGrp="1"/>
          </p:cNvSpPr>
          <p:nvPr>
            <p:ph type="dt" sz="half" idx="10"/>
          </p:nvPr>
        </p:nvSpPr>
        <p:spPr/>
        <p:txBody>
          <a:bodyPr/>
          <a:lstStyle/>
          <a:p>
            <a:fld id="{1449AA12-8195-4182-A7AC-2E7E59DFBDAF}" type="datetimeFigureOut">
              <a:rPr lang="en-US" smtClean="0"/>
              <a:t>12/6/2024</a:t>
            </a:fld>
            <a:endParaRPr lang="en-US"/>
          </a:p>
        </p:txBody>
      </p:sp>
      <p:sp>
        <p:nvSpPr>
          <p:cNvPr id="3" name="Footer Placeholder 2">
            <a:extLst>
              <a:ext uri="{FF2B5EF4-FFF2-40B4-BE49-F238E27FC236}">
                <a16:creationId xmlns:a16="http://schemas.microsoft.com/office/drawing/2014/main" id="{95B24F46-0425-47C6-9FFB-F69AFFFE89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CE7A99-1593-4189-A514-8209CC32A2EA}"/>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7" name="Rectangle 6">
            <a:extLst>
              <a:ext uri="{FF2B5EF4-FFF2-40B4-BE49-F238E27FC236}">
                <a16:creationId xmlns:a16="http://schemas.microsoft.com/office/drawing/2014/main" id="{11C15DFD-AB97-AB43-A6C9-2808708C91B4}"/>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A05BA89-ECA6-2247-ABBB-3C67160202E9}"/>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0692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E933B-3FC6-4B08-9FBE-2DD48307A4D4}"/>
              </a:ext>
            </a:extLst>
          </p:cNvPr>
          <p:cNvSpPr>
            <a:spLocks noGrp="1"/>
          </p:cNvSpPr>
          <p:nvPr>
            <p:ph type="title"/>
          </p:nvPr>
        </p:nvSpPr>
        <p:spPr>
          <a:xfrm>
            <a:off x="1587712" y="455362"/>
            <a:ext cx="4043440" cy="158451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377FBD4A-4514-4DCE-8F18-914DF3F4EED1}"/>
              </a:ext>
            </a:extLst>
          </p:cNvPr>
          <p:cNvSpPr>
            <a:spLocks noGrp="1"/>
          </p:cNvSpPr>
          <p:nvPr>
            <p:ph idx="1"/>
          </p:nvPr>
        </p:nvSpPr>
        <p:spPr>
          <a:xfrm>
            <a:off x="6271232" y="565151"/>
            <a:ext cx="5358384" cy="5521960"/>
          </a:xfrm>
        </p:spPr>
        <p:txBody>
          <a:bodyPr>
            <a:normAutofit/>
          </a:bodyPr>
          <a:lstStyle>
            <a:lvl1pPr>
              <a:defRPr sz="2200"/>
            </a:lvl1pPr>
            <a:lvl2pPr>
              <a:defRPr sz="1900"/>
            </a:lvl2pPr>
            <a:lvl3pPr>
              <a:defRPr sz="1700"/>
            </a:lvl3pPr>
            <a:lvl4pPr>
              <a:defRPr sz="1500"/>
            </a:lvl4pPr>
            <a:lvl5pPr>
              <a:defRPr sz="15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AF18C85-0675-4202-B796-352766854939}"/>
              </a:ext>
            </a:extLst>
          </p:cNvPr>
          <p:cNvSpPr>
            <a:spLocks noGrp="1"/>
          </p:cNvSpPr>
          <p:nvPr>
            <p:ph type="body" sz="half" idx="2"/>
          </p:nvPr>
        </p:nvSpPr>
        <p:spPr>
          <a:xfrm>
            <a:off x="1587712" y="2039874"/>
            <a:ext cx="4043440"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079E5-F934-4D04-866F-F7CB5B08ACC4}"/>
              </a:ext>
            </a:extLst>
          </p:cNvPr>
          <p:cNvSpPr>
            <a:spLocks noGrp="1"/>
          </p:cNvSpPr>
          <p:nvPr>
            <p:ph type="dt" sz="half" idx="10"/>
          </p:nvPr>
        </p:nvSpPr>
        <p:spPr/>
        <p:txBody>
          <a:bodyPr/>
          <a:lstStyle/>
          <a:p>
            <a:fld id="{1449AA12-8195-4182-A7AC-2E7E59DFBDAF}" type="datetimeFigureOut">
              <a:rPr lang="en-US" smtClean="0"/>
              <a:t>12/6/2024</a:t>
            </a:fld>
            <a:endParaRPr lang="en-US"/>
          </a:p>
        </p:txBody>
      </p:sp>
      <p:sp>
        <p:nvSpPr>
          <p:cNvPr id="6" name="Footer Placeholder 5">
            <a:extLst>
              <a:ext uri="{FF2B5EF4-FFF2-40B4-BE49-F238E27FC236}">
                <a16:creationId xmlns:a16="http://schemas.microsoft.com/office/drawing/2014/main" id="{E705FC94-7915-439A-B937-F02D1BB03A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B69B19-4156-4584-B1DC-4F42F200B915}"/>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DC1B6031-8ABE-F648-8E05-3D08D0D54B53}"/>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DABD855-35E6-BE4F-8B03-FD12DDB32E10}"/>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854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E1F3B-090C-4BB5-84BE-8ED0FC5981A5}"/>
              </a:ext>
            </a:extLst>
          </p:cNvPr>
          <p:cNvSpPr>
            <a:spLocks noGrp="1"/>
          </p:cNvSpPr>
          <p:nvPr>
            <p:ph type="title"/>
          </p:nvPr>
        </p:nvSpPr>
        <p:spPr>
          <a:xfrm>
            <a:off x="1587711" y="455362"/>
            <a:ext cx="4043436" cy="1584512"/>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9397C49E-9426-4B24-B2A7-C54B89DA60A3}"/>
              </a:ext>
            </a:extLst>
          </p:cNvPr>
          <p:cNvSpPr>
            <a:spLocks noGrp="1"/>
          </p:cNvSpPr>
          <p:nvPr>
            <p:ph type="pic" idx="1"/>
          </p:nvPr>
        </p:nvSpPr>
        <p:spPr>
          <a:xfrm>
            <a:off x="6271232" y="565150"/>
            <a:ext cx="5355607" cy="552267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BC7F011-0A5F-44E9-88CD-C95A33351B45}"/>
              </a:ext>
            </a:extLst>
          </p:cNvPr>
          <p:cNvSpPr>
            <a:spLocks noGrp="1"/>
          </p:cNvSpPr>
          <p:nvPr>
            <p:ph type="body" sz="half" idx="2"/>
          </p:nvPr>
        </p:nvSpPr>
        <p:spPr>
          <a:xfrm>
            <a:off x="1587711" y="2039874"/>
            <a:ext cx="4043436"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21C85-27BB-4533-A21B-C379FE03A944}"/>
              </a:ext>
            </a:extLst>
          </p:cNvPr>
          <p:cNvSpPr>
            <a:spLocks noGrp="1"/>
          </p:cNvSpPr>
          <p:nvPr>
            <p:ph type="dt" sz="half" idx="10"/>
          </p:nvPr>
        </p:nvSpPr>
        <p:spPr/>
        <p:txBody>
          <a:bodyPr/>
          <a:lstStyle/>
          <a:p>
            <a:fld id="{1449AA12-8195-4182-A7AC-2E7E59DFBDAF}" type="datetimeFigureOut">
              <a:rPr lang="en-US" smtClean="0"/>
              <a:t>12/6/2024</a:t>
            </a:fld>
            <a:endParaRPr lang="en-US"/>
          </a:p>
        </p:txBody>
      </p:sp>
      <p:sp>
        <p:nvSpPr>
          <p:cNvPr id="6" name="Footer Placeholder 5">
            <a:extLst>
              <a:ext uri="{FF2B5EF4-FFF2-40B4-BE49-F238E27FC236}">
                <a16:creationId xmlns:a16="http://schemas.microsoft.com/office/drawing/2014/main" id="{35018850-01F1-4247-9BFD-1DDC5DDDC3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B365A9-4C28-480F-B370-2DFF234B73F7}"/>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920EAFF3-0A84-F84B-90E4-A596F00B3DC2}"/>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8392559-3C15-B249-93C9-B0F7E9E5DDD8}"/>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8570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53B0-59B2-4B39-93E0-DCFBB932C82A}"/>
              </a:ext>
            </a:extLst>
          </p:cNvPr>
          <p:cNvSpPr>
            <a:spLocks noGrp="1"/>
          </p:cNvSpPr>
          <p:nvPr>
            <p:ph type="title"/>
          </p:nvPr>
        </p:nvSpPr>
        <p:spPr>
          <a:xfrm>
            <a:off x="1587710" y="455362"/>
            <a:ext cx="9525200" cy="1550419"/>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18C5F7B-98AC-425B-80BD-6C6F3032D0CE}"/>
              </a:ext>
            </a:extLst>
          </p:cNvPr>
          <p:cNvSpPr>
            <a:spLocks noGrp="1"/>
          </p:cNvSpPr>
          <p:nvPr>
            <p:ph type="body" orient="vert" idx="1"/>
          </p:nvPr>
        </p:nvSpPr>
        <p:spPr>
          <a:xfrm>
            <a:off x="1587710" y="2160016"/>
            <a:ext cx="9525200" cy="39261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C88C2EE-2433-424A-878C-24514FF5D44F}"/>
              </a:ext>
            </a:extLst>
          </p:cNvPr>
          <p:cNvSpPr>
            <a:spLocks noGrp="1"/>
          </p:cNvSpPr>
          <p:nvPr>
            <p:ph type="dt" sz="half" idx="10"/>
          </p:nvPr>
        </p:nvSpPr>
        <p:spPr/>
        <p:txBody>
          <a:bodyPr/>
          <a:lstStyle/>
          <a:p>
            <a:fld id="{1449AA12-8195-4182-A7AC-2E7E59DFBDAF}" type="datetimeFigureOut">
              <a:rPr lang="en-US" smtClean="0"/>
              <a:t>12/6/2024</a:t>
            </a:fld>
            <a:endParaRPr lang="en-US"/>
          </a:p>
        </p:txBody>
      </p:sp>
      <p:sp>
        <p:nvSpPr>
          <p:cNvPr id="5" name="Footer Placeholder 4">
            <a:extLst>
              <a:ext uri="{FF2B5EF4-FFF2-40B4-BE49-F238E27FC236}">
                <a16:creationId xmlns:a16="http://schemas.microsoft.com/office/drawing/2014/main" id="{1FFEFD20-ADE2-40F3-A071-6D1E97F8FB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B7D1D5-5E92-48E1-9475-EC122D3FE613}"/>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60FCF945-5CF3-5542-A36A-9CBB738E735E}"/>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7D61B-66C5-4341-8F2D-129A9E4D8283}"/>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3863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7FBCF-6EDB-4883-92D4-612F4D1C5589}"/>
              </a:ext>
            </a:extLst>
          </p:cNvPr>
          <p:cNvSpPr>
            <a:spLocks noGrp="1"/>
          </p:cNvSpPr>
          <p:nvPr>
            <p:ph type="title" orient="vert"/>
          </p:nvPr>
        </p:nvSpPr>
        <p:spPr>
          <a:xfrm>
            <a:off x="8846380" y="565149"/>
            <a:ext cx="2266530" cy="561181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9D2DF8-B588-416F-AA11-9F3A0DDE6765}"/>
              </a:ext>
            </a:extLst>
          </p:cNvPr>
          <p:cNvSpPr>
            <a:spLocks noGrp="1"/>
          </p:cNvSpPr>
          <p:nvPr>
            <p:ph type="body" orient="vert" idx="1"/>
          </p:nvPr>
        </p:nvSpPr>
        <p:spPr>
          <a:xfrm>
            <a:off x="1587710" y="565149"/>
            <a:ext cx="7088929" cy="5611813"/>
          </a:xfrm>
        </p:spPr>
        <p:txBody>
          <a:bodyPr vert="eaVert"/>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72F7B1D-405D-4EE7-9A23-3F21916C9503}"/>
              </a:ext>
            </a:extLst>
          </p:cNvPr>
          <p:cNvSpPr>
            <a:spLocks noGrp="1"/>
          </p:cNvSpPr>
          <p:nvPr>
            <p:ph type="dt" sz="half" idx="10"/>
          </p:nvPr>
        </p:nvSpPr>
        <p:spPr/>
        <p:txBody>
          <a:bodyPr/>
          <a:lstStyle/>
          <a:p>
            <a:fld id="{1449AA12-8195-4182-A7AC-2E7E59DFBDAF}" type="datetimeFigureOut">
              <a:rPr lang="en-US" smtClean="0"/>
              <a:t>12/6/2024</a:t>
            </a:fld>
            <a:endParaRPr lang="en-US"/>
          </a:p>
        </p:txBody>
      </p:sp>
      <p:sp>
        <p:nvSpPr>
          <p:cNvPr id="5" name="Footer Placeholder 4">
            <a:extLst>
              <a:ext uri="{FF2B5EF4-FFF2-40B4-BE49-F238E27FC236}">
                <a16:creationId xmlns:a16="http://schemas.microsoft.com/office/drawing/2014/main" id="{D27B9304-686C-431A-8E7F-D9DD19F4DF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A240B-DB2E-46ED-8AC6-744B2C1C70E3}"/>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2F275F2C-778B-864A-8379-6D0726B18FDC}"/>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70051C8-76B3-384B-BCF1-60BB80301FCD}"/>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5875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7ACD69-D2F4-4938-B590-C414049017E0}"/>
              </a:ext>
            </a:extLst>
          </p:cNvPr>
          <p:cNvSpPr>
            <a:spLocks noGrp="1"/>
          </p:cNvSpPr>
          <p:nvPr>
            <p:ph type="title"/>
          </p:nvPr>
        </p:nvSpPr>
        <p:spPr>
          <a:xfrm>
            <a:off x="1587710" y="455362"/>
            <a:ext cx="9486690" cy="155041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2E762BD4-BA0F-4CA4-BAE3-DF2B5087C045}"/>
              </a:ext>
            </a:extLst>
          </p:cNvPr>
          <p:cNvSpPr>
            <a:spLocks noGrp="1"/>
          </p:cNvSpPr>
          <p:nvPr>
            <p:ph type="body" idx="1"/>
          </p:nvPr>
        </p:nvSpPr>
        <p:spPr>
          <a:xfrm>
            <a:off x="1587710" y="2160016"/>
            <a:ext cx="9486690" cy="392615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80B2FEE-249E-42F1-94D8-A8C0759EF471}"/>
              </a:ext>
            </a:extLst>
          </p:cNvPr>
          <p:cNvSpPr>
            <a:spLocks noGrp="1"/>
          </p:cNvSpPr>
          <p:nvPr>
            <p:ph type="dt" sz="half" idx="2"/>
          </p:nvPr>
        </p:nvSpPr>
        <p:spPr>
          <a:xfrm>
            <a:off x="8018632" y="6292850"/>
            <a:ext cx="3094278"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49AA12-8195-4182-A7AC-2E7E59DFBDAF}" type="datetimeFigureOut">
              <a:rPr lang="en-US" smtClean="0"/>
              <a:pPr/>
              <a:t>12/6/2024</a:t>
            </a:fld>
            <a:endParaRPr lang="en-US"/>
          </a:p>
        </p:txBody>
      </p:sp>
      <p:sp>
        <p:nvSpPr>
          <p:cNvPr id="5" name="Footer Placeholder 4">
            <a:extLst>
              <a:ext uri="{FF2B5EF4-FFF2-40B4-BE49-F238E27FC236}">
                <a16:creationId xmlns:a16="http://schemas.microsoft.com/office/drawing/2014/main" id="{8560C617-A890-4920-83B0-143C03349066}"/>
              </a:ext>
            </a:extLst>
          </p:cNvPr>
          <p:cNvSpPr>
            <a:spLocks noGrp="1"/>
          </p:cNvSpPr>
          <p:nvPr>
            <p:ph type="ftr" sz="quarter" idx="3"/>
          </p:nvPr>
        </p:nvSpPr>
        <p:spPr>
          <a:xfrm>
            <a:off x="1587711" y="6292850"/>
            <a:ext cx="4114800" cy="365125"/>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4F1B4F1-B06B-4BBE-BFFF-C0B386E2449E}"/>
              </a:ext>
            </a:extLst>
          </p:cNvPr>
          <p:cNvSpPr>
            <a:spLocks noGrp="1"/>
          </p:cNvSpPr>
          <p:nvPr>
            <p:ph type="sldNum" sz="quarter" idx="4"/>
          </p:nvPr>
        </p:nvSpPr>
        <p:spPr>
          <a:xfrm>
            <a:off x="11149574" y="6292850"/>
            <a:ext cx="813816"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DFC975-2FD7-44A5-9E78-ECBA46156075}" type="slidenum">
              <a:rPr lang="en-US" smtClean="0"/>
              <a:pPr/>
              <a:t>‹#›</a:t>
            </a:fld>
            <a:endParaRPr lang="en-US"/>
          </a:p>
        </p:txBody>
      </p:sp>
      <p:sp>
        <p:nvSpPr>
          <p:cNvPr id="8" name="TextBox 7">
            <a:extLst>
              <a:ext uri="{FF2B5EF4-FFF2-40B4-BE49-F238E27FC236}">
                <a16:creationId xmlns:a16="http://schemas.microsoft.com/office/drawing/2014/main" id="{20E9CB58-34AF-32E4-AFCE-E2173094A39F}"/>
              </a:ext>
            </a:extLst>
          </p:cNvPr>
          <p:cNvSpPr txBox="1"/>
          <p:nvPr userDrawn="1">
            <p:extLst>
              <p:ext uri="{1162E1C5-73C7-4A58-AE30-91384D911F3F}">
                <p184:classification xmlns:p184="http://schemas.microsoft.com/office/powerpoint/2018/4/main" val="ftr"/>
              </p:ext>
            </p:extLst>
          </p:nvPr>
        </p:nvSpPr>
        <p:spPr>
          <a:xfrm>
            <a:off x="63500" y="6642100"/>
            <a:ext cx="1011238" cy="152400"/>
          </a:xfrm>
          <a:prstGeom prst="rect">
            <a:avLst/>
          </a:prstGeom>
        </p:spPr>
        <p:txBody>
          <a:bodyPr horzOverflow="overflow" lIns="0" tIns="0" rIns="0" bIns="0">
            <a:spAutoFit/>
          </a:bodyPr>
          <a:lstStyle/>
          <a:p>
            <a:pPr algn="l"/>
            <a:r>
              <a:rPr lang="en-GB" sz="1000">
                <a:solidFill>
                  <a:srgbClr val="000000"/>
                </a:solidFill>
                <a:latin typeface="Calibri" panose="020F0502020204030204" pitchFamily="34" charset="0"/>
                <a:ea typeface="Calibri" panose="020F0502020204030204" pitchFamily="34" charset="0"/>
                <a:cs typeface="Calibri" panose="020F0502020204030204" pitchFamily="34" charset="0"/>
              </a:rPr>
              <a:t>Classified - General</a:t>
            </a:r>
          </a:p>
        </p:txBody>
      </p:sp>
    </p:spTree>
    <p:extLst>
      <p:ext uri="{BB962C8B-B14F-4D97-AF65-F5344CB8AC3E}">
        <p14:creationId xmlns:p14="http://schemas.microsoft.com/office/powerpoint/2010/main" val="540334461"/>
      </p:ext>
    </p:extLst>
  </p:cSld>
  <p:clrMap bg1="dk1" tx1="lt1" bg2="dk2"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2" r:id="rId6"/>
    <p:sldLayoutId id="2147483758" r:id="rId7"/>
    <p:sldLayoutId id="2147483759" r:id="rId8"/>
    <p:sldLayoutId id="2147483760" r:id="rId9"/>
    <p:sldLayoutId id="2147483761" r:id="rId10"/>
    <p:sldLayoutId id="2147483763"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2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457200" indent="-228600" algn="l" defTabSz="914400" rtl="0" eaLnBrk="1" latinLnBrk="0" hangingPunct="1">
        <a:lnSpc>
          <a:spcPct val="110000"/>
        </a:lnSpc>
        <a:spcBef>
          <a:spcPts val="600"/>
        </a:spcBef>
        <a:buClr>
          <a:schemeClr val="accent1"/>
        </a:buClr>
        <a:buFont typeface="Arial" panose="020B0604020202020204" pitchFamily="34" charset="0"/>
        <a:buChar char="•"/>
        <a:defRPr sz="1900" kern="1200">
          <a:solidFill>
            <a:schemeClr val="tx1"/>
          </a:solidFill>
          <a:latin typeface="+mn-lt"/>
          <a:ea typeface="+mn-ea"/>
          <a:cs typeface="+mn-cs"/>
        </a:defRPr>
      </a:lvl2pPr>
      <a:lvl3pPr marL="685800" indent="-228600" algn="l" defTabSz="914400" rtl="0" eaLnBrk="1" latinLnBrk="0" hangingPunct="1">
        <a:lnSpc>
          <a:spcPct val="110000"/>
        </a:lnSpc>
        <a:spcBef>
          <a:spcPts val="600"/>
        </a:spcBef>
        <a:buClr>
          <a:schemeClr val="accent1"/>
        </a:buClr>
        <a:buFont typeface="Arial" panose="020B0604020202020204" pitchFamily="34" charset="0"/>
        <a:buChar char="•"/>
        <a:defRPr sz="1700" kern="1200">
          <a:solidFill>
            <a:schemeClr val="tx1"/>
          </a:solidFill>
          <a:latin typeface="+mn-lt"/>
          <a:ea typeface="+mn-ea"/>
          <a:cs typeface="+mn-cs"/>
        </a:defRPr>
      </a:lvl3pPr>
      <a:lvl4pPr marL="9144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4pPr>
      <a:lvl5pPr marL="11430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ubertesters.com/user-experience-testing/" TargetMode="External"/><Relationship Id="rId2" Type="http://schemas.openxmlformats.org/officeDocument/2006/relationships/hyperlink" Target="https://ubertesters.com/functional-testing/" TargetMode="External"/><Relationship Id="rId1" Type="http://schemas.openxmlformats.org/officeDocument/2006/relationships/slideLayout" Target="../slideLayouts/slideLayout2.xml"/><Relationship Id="rId5" Type="http://schemas.openxmlformats.org/officeDocument/2006/relationships/hyperlink" Target="https://ubertesters.com/blog/real-devices-vs-emulators-youve-got-two-options/" TargetMode="External"/><Relationship Id="rId4" Type="http://schemas.openxmlformats.org/officeDocument/2006/relationships/hyperlink" Target="https://ubertesters.com/search/Cross-platfor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88F843D-1C1B-C740-AC27-E3238D0F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E43E17-22F6-EF33-B715-F33CE39BF4FF}"/>
              </a:ext>
            </a:extLst>
          </p:cNvPr>
          <p:cNvSpPr>
            <a:spLocks noGrp="1"/>
          </p:cNvSpPr>
          <p:nvPr>
            <p:ph type="ctrTitle"/>
          </p:nvPr>
        </p:nvSpPr>
        <p:spPr>
          <a:xfrm>
            <a:off x="8018633" y="1247140"/>
            <a:ext cx="3608208" cy="3450844"/>
          </a:xfrm>
        </p:spPr>
        <p:txBody>
          <a:bodyPr>
            <a:normAutofit/>
          </a:bodyPr>
          <a:lstStyle/>
          <a:p>
            <a:r>
              <a:rPr lang="en-US" sz="4800" dirty="0"/>
              <a:t>Video app testing task</a:t>
            </a:r>
            <a:endParaRPr lang="en-GB" sz="4800" dirty="0"/>
          </a:p>
        </p:txBody>
      </p:sp>
      <p:pic>
        <p:nvPicPr>
          <p:cNvPr id="17" name="Picture 16" descr="Multicolored smoke gradient">
            <a:extLst>
              <a:ext uri="{FF2B5EF4-FFF2-40B4-BE49-F238E27FC236}">
                <a16:creationId xmlns:a16="http://schemas.microsoft.com/office/drawing/2014/main" id="{4CE423FE-9AF0-27F1-082B-91CDCBD33969}"/>
              </a:ext>
            </a:extLst>
          </p:cNvPr>
          <p:cNvPicPr>
            <a:picLocks noChangeAspect="1"/>
          </p:cNvPicPr>
          <p:nvPr/>
        </p:nvPicPr>
        <p:blipFill>
          <a:blip r:embed="rId2"/>
          <a:srcRect l="11533" r="15890" b="-1"/>
          <a:stretch/>
        </p:blipFill>
        <p:spPr>
          <a:xfrm>
            <a:off x="-1" y="10"/>
            <a:ext cx="7456513" cy="6857990"/>
          </a:xfrm>
          <a:custGeom>
            <a:avLst/>
            <a:gdLst/>
            <a:ahLst/>
            <a:cxnLst/>
            <a:rect l="l" t="t" r="r" b="b"/>
            <a:pathLst>
              <a:path w="7456513" h="6858000">
                <a:moveTo>
                  <a:pt x="0" y="0"/>
                </a:moveTo>
                <a:lnTo>
                  <a:pt x="6059386" y="0"/>
                </a:lnTo>
                <a:lnTo>
                  <a:pt x="6059386" y="1375489"/>
                </a:lnTo>
                <a:lnTo>
                  <a:pt x="7456513" y="1375489"/>
                </a:lnTo>
                <a:lnTo>
                  <a:pt x="7456513" y="6858000"/>
                </a:lnTo>
                <a:lnTo>
                  <a:pt x="0" y="6858000"/>
                </a:lnTo>
                <a:close/>
              </a:path>
            </a:pathLst>
          </a:custGeom>
        </p:spPr>
      </p:pic>
      <p:sp>
        <p:nvSpPr>
          <p:cNvPr id="22" name="Rectangle 21">
            <a:extLst>
              <a:ext uri="{FF2B5EF4-FFF2-40B4-BE49-F238E27FC236}">
                <a16:creationId xmlns:a16="http://schemas.microsoft.com/office/drawing/2014/main" id="{A21C8291-E3D5-4240-8FF4-E5213CBCC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85818"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4" name="Rectangle 23">
            <a:extLst>
              <a:ext uri="{FF2B5EF4-FFF2-40B4-BE49-F238E27FC236}">
                <a16:creationId xmlns:a16="http://schemas.microsoft.com/office/drawing/2014/main" id="{08B44AFE-C181-7047-8CC9-CA00BD385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85818"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30610349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F47092-9489-FAE9-5E1A-1038287FEF99}"/>
              </a:ext>
            </a:extLst>
          </p:cNvPr>
          <p:cNvSpPr>
            <a:spLocks noGrp="1"/>
          </p:cNvSpPr>
          <p:nvPr>
            <p:ph idx="1"/>
          </p:nvPr>
        </p:nvSpPr>
        <p:spPr>
          <a:xfrm>
            <a:off x="1587710" y="422031"/>
            <a:ext cx="9486690" cy="5664137"/>
          </a:xfrm>
        </p:spPr>
        <p:txBody>
          <a:bodyPr/>
          <a:lstStyle/>
          <a:p>
            <a:pPr>
              <a:lnSpc>
                <a:spcPct val="115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Test Closure Report</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Project Name:</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 Video Call Application</a:t>
            </a:r>
          </a:p>
          <a:p>
            <a:pPr>
              <a:lnSpc>
                <a:spcPct val="115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Testing Period:</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 December 2024</a:t>
            </a:r>
          </a:p>
          <a:p>
            <a:pPr>
              <a:lnSpc>
                <a:spcPct val="115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Prepared By:</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 Mihaela Maxim</a:t>
            </a:r>
          </a:p>
          <a:p>
            <a:pPr>
              <a:lnSpc>
                <a:spcPct val="115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Date:</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 December 9, 2024</a:t>
            </a:r>
          </a:p>
          <a:p>
            <a:pPr>
              <a:lnSpc>
                <a:spcPct val="115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1. Introduction</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The purpose of this report is to summarize the testing activities and findings for the video call application. This includes an overview of the test cases executed, key findings, and recommendations for future improvements.</a:t>
            </a:r>
          </a:p>
          <a:p>
            <a:pPr marL="0" indent="0">
              <a:buNone/>
            </a:pPr>
            <a:endParaRPr lang="en-GB" dirty="0"/>
          </a:p>
        </p:txBody>
      </p:sp>
    </p:spTree>
    <p:extLst>
      <p:ext uri="{BB962C8B-B14F-4D97-AF65-F5344CB8AC3E}">
        <p14:creationId xmlns:p14="http://schemas.microsoft.com/office/powerpoint/2010/main" val="3810153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AE3A03-2970-8D4A-56CA-13900F2E5C91}"/>
              </a:ext>
            </a:extLst>
          </p:cNvPr>
          <p:cNvSpPr>
            <a:spLocks noGrp="1"/>
          </p:cNvSpPr>
          <p:nvPr>
            <p:ph idx="1"/>
          </p:nvPr>
        </p:nvSpPr>
        <p:spPr>
          <a:xfrm>
            <a:off x="1587710" y="462116"/>
            <a:ext cx="9486690" cy="5624052"/>
          </a:xfrm>
        </p:spPr>
        <p:txBody>
          <a:bodyPr>
            <a:normAutofit/>
          </a:bodyPr>
          <a:lstStyle/>
          <a:p>
            <a:pPr>
              <a:lnSpc>
                <a:spcPct val="115000"/>
              </a:lnSpc>
              <a:spcAft>
                <a:spcPts val="800"/>
              </a:spcAf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2. Test Summary</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Total Test Cases Executed:</a:t>
            </a:r>
            <a:r>
              <a:rPr lang="en-GB" sz="1600" kern="100" dirty="0">
                <a:effectLst/>
                <a:latin typeface="Aptos" panose="020B0004020202020204" pitchFamily="34" charset="0"/>
                <a:ea typeface="Aptos" panose="020B0004020202020204" pitchFamily="34" charset="0"/>
                <a:cs typeface="Times New Roman" panose="02020603050405020304" pitchFamily="18" charset="0"/>
              </a:rPr>
              <a:t> 9</a:t>
            </a:r>
          </a:p>
          <a:p>
            <a:pPr marL="342900" lvl="0" indent="-342900">
              <a:lnSpc>
                <a:spcPct val="115000"/>
              </a:lnSpc>
              <a:spcAft>
                <a:spcPts val="800"/>
              </a:spcAft>
              <a:buSzPts val="1000"/>
              <a:buFont typeface="Symbol" panose="05050102010706020507" pitchFamily="18" charset="2"/>
              <a:buChar char=""/>
              <a:tabLst>
                <a:tab pos="457200" algn="l"/>
              </a:tabLs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Test Cases Passed:</a:t>
            </a:r>
            <a:r>
              <a:rPr lang="en-GB" sz="1600" kern="100" dirty="0">
                <a:effectLst/>
                <a:latin typeface="Aptos" panose="020B0004020202020204" pitchFamily="34" charset="0"/>
                <a:ea typeface="Aptos" panose="020B0004020202020204" pitchFamily="34" charset="0"/>
                <a:cs typeface="Times New Roman" panose="02020603050405020304" pitchFamily="18" charset="0"/>
              </a:rPr>
              <a:t> 8</a:t>
            </a:r>
          </a:p>
          <a:p>
            <a:pPr marL="342900" lvl="0" indent="-342900">
              <a:lnSpc>
                <a:spcPct val="115000"/>
              </a:lnSpc>
              <a:spcAft>
                <a:spcPts val="800"/>
              </a:spcAft>
              <a:buSzPts val="1000"/>
              <a:buFont typeface="Symbol" panose="05050102010706020507" pitchFamily="18" charset="2"/>
              <a:buChar char=""/>
              <a:tabLst>
                <a:tab pos="457200" algn="l"/>
              </a:tabLs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Test Cases Failed:</a:t>
            </a:r>
            <a:r>
              <a:rPr lang="en-GB" sz="1600" kern="100" dirty="0">
                <a:effectLst/>
                <a:latin typeface="Aptos" panose="020B0004020202020204" pitchFamily="34" charset="0"/>
                <a:ea typeface="Aptos" panose="020B0004020202020204" pitchFamily="34" charset="0"/>
                <a:cs typeface="Times New Roman" panose="02020603050405020304" pitchFamily="18" charset="0"/>
              </a:rPr>
              <a:t> 1</a:t>
            </a:r>
          </a:p>
          <a:p>
            <a:pPr marL="457200">
              <a:lnSpc>
                <a:spcPct val="115000"/>
              </a:lnSpc>
              <a:spcAft>
                <a:spcPts val="800"/>
              </a:spcAf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Test Coverage:</a:t>
            </a:r>
            <a:r>
              <a:rPr lang="en-GB" sz="1600" kern="100" dirty="0">
                <a:effectLst/>
                <a:latin typeface="Aptos" panose="020B0004020202020204" pitchFamily="34" charset="0"/>
                <a:ea typeface="Aptos" panose="020B0004020202020204" pitchFamily="34" charset="0"/>
                <a:cs typeface="Times New Roman" panose="02020603050405020304" pitchFamily="18" charset="0"/>
              </a:rPr>
              <a:t> Login, Video Call, Screen Sharing, Audio and Video Quality, Chat Functionality</a:t>
            </a:r>
          </a:p>
          <a:p>
            <a:pPr>
              <a:lnSpc>
                <a:spcPct val="115000"/>
              </a:lnSpc>
              <a:spcAft>
                <a:spcPts val="800"/>
              </a:spcAf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3. Key Findings</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Critical Issues</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Screen Sharing Crash</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Description:</a:t>
            </a:r>
            <a:r>
              <a:rPr lang="en-GB" sz="1600" kern="100" dirty="0">
                <a:effectLst/>
                <a:latin typeface="Aptos" panose="020B0004020202020204" pitchFamily="34" charset="0"/>
                <a:ea typeface="Aptos" panose="020B0004020202020204" pitchFamily="34" charset="0"/>
                <a:cs typeface="Times New Roman" panose="02020603050405020304" pitchFamily="18" charset="0"/>
              </a:rPr>
              <a:t> The application crashes when users attempt to share their screens.</a:t>
            </a:r>
          </a:p>
          <a:p>
            <a:pPr marL="742950" lvl="1" indent="-285750">
              <a:lnSpc>
                <a:spcPct val="115000"/>
              </a:lnSpc>
              <a:spcAft>
                <a:spcPts val="800"/>
              </a:spcAft>
              <a:buSzPts val="1000"/>
              <a:buFont typeface="Courier New" panose="02070309020205020404" pitchFamily="49" charset="0"/>
              <a:buChar char="o"/>
              <a:tabLst>
                <a:tab pos="914400" algn="l"/>
              </a:tabLs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Impact:</a:t>
            </a:r>
            <a:r>
              <a:rPr lang="en-GB" sz="1600" kern="100" dirty="0">
                <a:effectLst/>
                <a:latin typeface="Aptos" panose="020B0004020202020204" pitchFamily="34" charset="0"/>
                <a:ea typeface="Aptos" panose="020B0004020202020204" pitchFamily="34" charset="0"/>
                <a:cs typeface="Times New Roman" panose="02020603050405020304" pitchFamily="18" charset="0"/>
              </a:rPr>
              <a:t> High. Disrupts ongoing meetings and prevents effective collaboration.</a:t>
            </a:r>
          </a:p>
          <a:p>
            <a:pPr marL="742950" lvl="1" indent="-285750">
              <a:lnSpc>
                <a:spcPct val="115000"/>
              </a:lnSpc>
              <a:spcAft>
                <a:spcPts val="800"/>
              </a:spcAft>
              <a:buSzPts val="1000"/>
              <a:buFont typeface="Courier New" panose="02070309020205020404" pitchFamily="49" charset="0"/>
              <a:buChar char="o"/>
              <a:tabLst>
                <a:tab pos="914400" algn="l"/>
              </a:tabLs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Status:</a:t>
            </a:r>
            <a:r>
              <a:rPr lang="en-GB" sz="1600" kern="100" dirty="0">
                <a:effectLst/>
                <a:latin typeface="Aptos" panose="020B0004020202020204" pitchFamily="34" charset="0"/>
                <a:ea typeface="Aptos" panose="020B0004020202020204" pitchFamily="34" charset="0"/>
                <a:cs typeface="Times New Roman" panose="02020603050405020304" pitchFamily="18" charset="0"/>
              </a:rPr>
              <a:t> Open</a:t>
            </a:r>
          </a:p>
          <a:p>
            <a:pPr marL="0" indent="0">
              <a:buNone/>
            </a:pPr>
            <a:endParaRPr lang="en-GB" dirty="0"/>
          </a:p>
        </p:txBody>
      </p:sp>
    </p:spTree>
    <p:extLst>
      <p:ext uri="{BB962C8B-B14F-4D97-AF65-F5344CB8AC3E}">
        <p14:creationId xmlns:p14="http://schemas.microsoft.com/office/powerpoint/2010/main" val="3158774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A68DF-0964-C8AE-5F33-7A53120E979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E20939-679A-8327-46B2-24E07C38B462}"/>
              </a:ext>
            </a:extLst>
          </p:cNvPr>
          <p:cNvSpPr>
            <a:spLocks noGrp="1"/>
          </p:cNvSpPr>
          <p:nvPr>
            <p:ph idx="1"/>
          </p:nvPr>
        </p:nvSpPr>
        <p:spPr>
          <a:xfrm>
            <a:off x="1587710" y="462116"/>
            <a:ext cx="9486690" cy="5624052"/>
          </a:xfrm>
        </p:spPr>
        <p:txBody>
          <a:bodyPr>
            <a:normAutofit/>
          </a:bodyPr>
          <a:lstStyle/>
          <a:p>
            <a:pPr>
              <a:lnSpc>
                <a:spcPct val="115000"/>
              </a:lnSpc>
              <a:spcAft>
                <a:spcPts val="800"/>
              </a:spcAf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4. Recommendations</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Immediate Fixes:</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1600" kern="100" dirty="0">
                <a:effectLst/>
                <a:latin typeface="Aptos" panose="020B0004020202020204" pitchFamily="34" charset="0"/>
                <a:ea typeface="Aptos" panose="020B0004020202020204" pitchFamily="34" charset="0"/>
                <a:cs typeface="Times New Roman" panose="02020603050405020304" pitchFamily="18" charset="0"/>
              </a:rPr>
              <a:t>Resolve the screen sharing crash issue to ensure stability during calls.</a:t>
            </a:r>
          </a:p>
          <a:p>
            <a:pPr marL="342900" lvl="0" indent="-342900">
              <a:lnSpc>
                <a:spcPct val="115000"/>
              </a:lnSpc>
              <a:spcAft>
                <a:spcPts val="800"/>
              </a:spcAft>
              <a:buSzPts val="1000"/>
              <a:buFont typeface="Symbol" panose="05050102010706020507" pitchFamily="18" charset="2"/>
              <a:buChar char=""/>
              <a:tabLst>
                <a:tab pos="457200" algn="l"/>
              </a:tabLs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Future Improvements:</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1600" kern="100" dirty="0">
                <a:effectLst/>
                <a:latin typeface="Aptos" panose="020B0004020202020204" pitchFamily="34" charset="0"/>
                <a:ea typeface="Aptos" panose="020B0004020202020204" pitchFamily="34" charset="0"/>
                <a:cs typeface="Times New Roman" panose="02020603050405020304" pitchFamily="18" charset="0"/>
              </a:rPr>
              <a:t>Conduct user experience (UX) research to identify pain points and redesign the UI for better usability.</a:t>
            </a:r>
          </a:p>
          <a:p>
            <a:pPr marL="742950" lvl="1" indent="-285750">
              <a:lnSpc>
                <a:spcPct val="115000"/>
              </a:lnSpc>
              <a:spcAft>
                <a:spcPts val="800"/>
              </a:spcAft>
              <a:buSzPts val="1000"/>
              <a:buFont typeface="Courier New" panose="02070309020205020404" pitchFamily="49" charset="0"/>
              <a:buChar char="o"/>
              <a:tabLst>
                <a:tab pos="914400" algn="l"/>
              </a:tabLst>
            </a:pPr>
            <a:r>
              <a:rPr lang="en-GB" sz="1600" kern="100" dirty="0">
                <a:effectLst/>
                <a:latin typeface="Aptos" panose="020B0004020202020204" pitchFamily="34" charset="0"/>
                <a:ea typeface="Aptos" panose="020B0004020202020204" pitchFamily="34" charset="0"/>
                <a:cs typeface="Times New Roman" panose="02020603050405020304" pitchFamily="18" charset="0"/>
              </a:rPr>
              <a:t>Implement comprehensive accessibility features to make the application usable for all users, including those with disabilities.</a:t>
            </a:r>
          </a:p>
          <a:p>
            <a:pPr>
              <a:lnSpc>
                <a:spcPct val="115000"/>
              </a:lnSpc>
              <a:spcAft>
                <a:spcPts val="800"/>
              </a:spcAf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5. Conclusion</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The video call application performs well in most areas, but critical issues like the screen sharing crash need to be addressed promptly. Further testing is recommended after fixes are implemented to ensure the application meets user expectations and provides a reliable, secure, and user-friendly experience.</a:t>
            </a:r>
          </a:p>
          <a:p>
            <a:pPr marL="0" indent="0">
              <a:buNone/>
            </a:pPr>
            <a:endParaRPr lang="en-GB" dirty="0"/>
          </a:p>
        </p:txBody>
      </p:sp>
    </p:spTree>
    <p:extLst>
      <p:ext uri="{BB962C8B-B14F-4D97-AF65-F5344CB8AC3E}">
        <p14:creationId xmlns:p14="http://schemas.microsoft.com/office/powerpoint/2010/main" val="660490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45C1E-34BC-7AF4-3214-90EC8C8D84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3731F7-1B94-A90F-011F-542CEE1E1440}"/>
              </a:ext>
            </a:extLst>
          </p:cNvPr>
          <p:cNvSpPr>
            <a:spLocks noGrp="1"/>
          </p:cNvSpPr>
          <p:nvPr>
            <p:ph idx="1"/>
          </p:nvPr>
        </p:nvSpPr>
        <p:spPr>
          <a:xfrm>
            <a:off x="1587710" y="462116"/>
            <a:ext cx="9486690" cy="5624052"/>
          </a:xfrm>
        </p:spPr>
        <p:txBody>
          <a:bodyPr>
            <a:normAutofit fontScale="77500" lnSpcReduction="20000"/>
          </a:bodyPr>
          <a:lstStyle/>
          <a:p>
            <a:pPr algn="ctr">
              <a:lnSpc>
                <a:spcPct val="115000"/>
              </a:lnSpc>
              <a:spcAft>
                <a:spcPts val="800"/>
              </a:spcAft>
            </a:pPr>
            <a:r>
              <a:rPr lang="en-GB" sz="2800" b="1" kern="100" dirty="0">
                <a:effectLst/>
                <a:latin typeface="Aptos" panose="020B0004020202020204" pitchFamily="34" charset="0"/>
                <a:ea typeface="Aptos" panose="020B0004020202020204" pitchFamily="34" charset="0"/>
                <a:cs typeface="Times New Roman" panose="02020603050405020304" pitchFamily="18" charset="0"/>
              </a:rPr>
              <a:t>Testing a video app requires a complex approach and a large number of functions to consider, so I recommend focus on:</a:t>
            </a:r>
          </a:p>
          <a:p>
            <a:pPr>
              <a:lnSpc>
                <a:spcPct val="115000"/>
              </a:lnSpc>
              <a:spcAft>
                <a:spcPts val="800"/>
              </a:spcAft>
            </a:pPr>
            <a:r>
              <a:rPr lang="en-GB" sz="1800" b="1"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2"/>
              </a:rPr>
              <a:t>Functional Testing</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Does the video app meet all the software requirements? Is the entire functionality operating as expected? </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User Experience Testing</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Will a common user enjoy using the app? It is crucial to test the app using various user stories and check the app’s navigation, load time. </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4"/>
              </a:rPr>
              <a:t>Cross-platform Testing </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The video app should be easy and comfortable to use on various devices and platforms – desktop, mobile, windows, Android, IOS and with different types of browsers. Cross-platform testing is performed to check these features under a large matrix of different alternatives and various combinations. </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5"/>
              </a:rPr>
              <a:t>Testing on many global Real Devices </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It is important to test he video app on different device levels (high, mid and low-end devices), different platforms (mobile iOS, mobile Android, desktops), various screen sizes, Wi-Fi or data (2G, 3G, 4G) to make sure it works perfectly for users with different devices. </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GB" dirty="0"/>
          </a:p>
        </p:txBody>
      </p:sp>
    </p:spTree>
    <p:extLst>
      <p:ext uri="{BB962C8B-B14F-4D97-AF65-F5344CB8AC3E}">
        <p14:creationId xmlns:p14="http://schemas.microsoft.com/office/powerpoint/2010/main" val="2910793938"/>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D03A0B2-4A2F-D846-A5E6-FB7CB9A03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9" name="Rectangle 18">
            <a:extLst>
              <a:ext uri="{FF2B5EF4-FFF2-40B4-BE49-F238E27FC236}">
                <a16:creationId xmlns:a16="http://schemas.microsoft.com/office/drawing/2014/main" id="{7F573F1D-73A7-FB41-BCAD-FC9AA7DEF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useBgFill="1">
        <p:nvSpPr>
          <p:cNvPr id="20" name="Rectangle 19">
            <a:extLst>
              <a:ext uri="{FF2B5EF4-FFF2-40B4-BE49-F238E27FC236}">
                <a16:creationId xmlns:a16="http://schemas.microsoft.com/office/drawing/2014/main" id="{281148B8-58D0-4E9A-A32C-B3B181A3A8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1EC1EF6-A5BF-44DB-A672-D024091B3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85407" y="1375495"/>
            <a:ext cx="5106593"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Rectangle 21">
            <a:extLst>
              <a:ext uri="{FF2B5EF4-FFF2-40B4-BE49-F238E27FC236}">
                <a16:creationId xmlns:a16="http://schemas.microsoft.com/office/drawing/2014/main" id="{45E02CBB-287D-4A17-B2F3-56AD2C058F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49232" y="1"/>
            <a:ext cx="3742769"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26C3966-749A-7706-1DF5-F9FA1053210C}"/>
              </a:ext>
            </a:extLst>
          </p:cNvPr>
          <p:cNvSpPr txBox="1"/>
          <p:nvPr/>
        </p:nvSpPr>
        <p:spPr>
          <a:xfrm>
            <a:off x="828605" y="2200069"/>
            <a:ext cx="11149780" cy="1468864"/>
          </a:xfrm>
          <a:prstGeom prst="rect">
            <a:avLst/>
          </a:prstGeom>
          <a:noFill/>
        </p:spPr>
        <p:txBody>
          <a:bodyPr wrap="square">
            <a:spAutoFit/>
          </a:bodyPr>
          <a:lstStyle/>
          <a:p>
            <a:pPr algn="ctr">
              <a:lnSpc>
                <a:spcPct val="115000"/>
              </a:lnSpc>
              <a:spcAft>
                <a:spcPts val="800"/>
              </a:spcAft>
            </a:pPr>
            <a:r>
              <a:rPr lang="en-GB" sz="4000" b="1" kern="100" dirty="0">
                <a:effectLst/>
                <a:latin typeface="+mj-lt"/>
                <a:ea typeface="Aptos" panose="020B0004020202020204" pitchFamily="34" charset="0"/>
                <a:cs typeface="Times New Roman" panose="02020603050405020304" pitchFamily="18" charset="0"/>
              </a:rPr>
              <a:t>WHY I THINK I AM A GOOD FIT IN THIS COMPANY AND FOR THIS JOB</a:t>
            </a:r>
            <a:endParaRPr lang="en-GB" sz="4000" kern="100" dirty="0">
              <a:effectLst/>
              <a:latin typeface="+mj-l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946142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8D60E3-CE43-56C1-1509-B9E52CEC0512}"/>
              </a:ext>
            </a:extLst>
          </p:cNvPr>
          <p:cNvSpPr>
            <a:spLocks noGrp="1"/>
          </p:cNvSpPr>
          <p:nvPr>
            <p:ph idx="1"/>
          </p:nvPr>
        </p:nvSpPr>
        <p:spPr>
          <a:xfrm>
            <a:off x="1587710" y="275303"/>
            <a:ext cx="9486690" cy="5810865"/>
          </a:xfrm>
        </p:spPr>
        <p:txBody>
          <a:bodyPr>
            <a:normAutofit fontScale="70000" lnSpcReduction="20000"/>
          </a:bodyPr>
          <a:lstStyle/>
          <a:p>
            <a:pPr marL="0" indent="0">
              <a:lnSpc>
                <a:spcPct val="115000"/>
              </a:lnSpc>
              <a:spcBef>
                <a:spcPts val="600"/>
              </a:spcBef>
              <a:spcAft>
                <a:spcPts val="600"/>
              </a:spcAft>
              <a:buNone/>
            </a:pPr>
            <a:r>
              <a:rPr lang="en-GB" sz="1800" b="1" kern="100" dirty="0">
                <a:effectLst/>
                <a:latin typeface="Calibri" panose="020F0502020204030204" pitchFamily="34" charset="0"/>
                <a:ea typeface="Calibri" panose="020F0502020204030204" pitchFamily="34" charset="0"/>
                <a:cs typeface="Calibri" panose="020F0502020204030204" pitchFamily="34" charset="0"/>
              </a:rPr>
              <a:t>TECHNICAL SKILLS AND KNOWLEDGE</a:t>
            </a:r>
          </a:p>
          <a:p>
            <a:pPr marL="342900" lvl="0" indent="-342900">
              <a:lnSpc>
                <a:spcPct val="115000"/>
              </a:lnSpc>
              <a:spcBef>
                <a:spcPts val="600"/>
              </a:spcBef>
              <a:spcAft>
                <a:spcPts val="600"/>
              </a:spcAft>
              <a:buSzPts val="1000"/>
              <a:buFont typeface="Symbol" panose="05050102010706020507" pitchFamily="18" charset="2"/>
              <a:buChar char=""/>
              <a:tabLst>
                <a:tab pos="457200" algn="l"/>
              </a:tabLst>
            </a:pPr>
            <a:r>
              <a:rPr lang="en-GB" sz="1800" b="1" kern="100" dirty="0">
                <a:effectLst/>
                <a:latin typeface="Calibri" panose="020F0502020204030204" pitchFamily="34" charset="0"/>
                <a:ea typeface="Calibri" panose="020F0502020204030204" pitchFamily="34" charset="0"/>
                <a:cs typeface="Calibri" panose="020F0502020204030204" pitchFamily="34" charset="0"/>
              </a:rPr>
              <a:t>Strong foundation in software testing principles, methodologies, and tools.</a:t>
            </a:r>
            <a:endParaRPr lang="en-GB" sz="1800" kern="1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15000"/>
              </a:lnSpc>
              <a:spcBef>
                <a:spcPts val="600"/>
              </a:spcBef>
              <a:spcAft>
                <a:spcPts val="600"/>
              </a:spcAft>
              <a:buSzPts val="1000"/>
              <a:buFont typeface="Symbol" panose="05050102010706020507" pitchFamily="18" charset="2"/>
              <a:buChar char=""/>
              <a:tabLst>
                <a:tab pos="457200" algn="l"/>
              </a:tabLst>
            </a:pPr>
            <a:r>
              <a:rPr lang="en-GB" sz="1800" b="1" kern="100" dirty="0">
                <a:effectLst/>
                <a:latin typeface="Calibri" panose="020F0502020204030204" pitchFamily="34" charset="0"/>
                <a:ea typeface="Calibri" panose="020F0502020204030204" pitchFamily="34" charset="0"/>
                <a:cs typeface="Calibri" panose="020F0502020204030204" pitchFamily="34" charset="0"/>
              </a:rPr>
              <a:t>Meticulous attention to detail in identifying and documenting bugs.</a:t>
            </a:r>
            <a:endParaRPr lang="en-GB" sz="1800" kern="100" dirty="0">
              <a:effectLst/>
              <a:latin typeface="Calibri" panose="020F0502020204030204" pitchFamily="34" charset="0"/>
              <a:ea typeface="Calibri" panose="020F0502020204030204" pitchFamily="34" charset="0"/>
              <a:cs typeface="Calibri" panose="020F0502020204030204" pitchFamily="34" charset="0"/>
            </a:endParaRPr>
          </a:p>
          <a:p>
            <a:pPr marL="0" indent="0">
              <a:lnSpc>
                <a:spcPct val="115000"/>
              </a:lnSpc>
              <a:spcBef>
                <a:spcPts val="600"/>
              </a:spcBef>
              <a:spcAft>
                <a:spcPts val="600"/>
              </a:spcAft>
              <a:buNone/>
            </a:pPr>
            <a:r>
              <a:rPr lang="en-GB" sz="1800" b="1" kern="100" dirty="0">
                <a:effectLst/>
                <a:latin typeface="Calibri" panose="020F0502020204030204" pitchFamily="34" charset="0"/>
                <a:ea typeface="Calibri" panose="020F0502020204030204" pitchFamily="34" charset="0"/>
                <a:cs typeface="Calibri" panose="020F0502020204030204" pitchFamily="34" charset="0"/>
              </a:rPr>
              <a:t>PROBLEM-SOLVING ABILITIES</a:t>
            </a:r>
            <a:endParaRPr lang="en-GB" sz="1800" kern="1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15000"/>
              </a:lnSpc>
              <a:spcBef>
                <a:spcPts val="600"/>
              </a:spcBef>
              <a:spcAft>
                <a:spcPts val="600"/>
              </a:spcAft>
              <a:buSzPts val="1000"/>
              <a:buFont typeface="Symbol" panose="05050102010706020507" pitchFamily="18" charset="2"/>
              <a:buChar char=""/>
              <a:tabLst>
                <a:tab pos="457200" algn="l"/>
              </a:tabLst>
            </a:pPr>
            <a:r>
              <a:rPr lang="en-GB" sz="1800" b="1" kern="100" dirty="0">
                <a:effectLst/>
                <a:latin typeface="Calibri" panose="020F0502020204030204" pitchFamily="34" charset="0"/>
                <a:ea typeface="Calibri" panose="020F0502020204030204" pitchFamily="34" charset="0"/>
                <a:cs typeface="Calibri" panose="020F0502020204030204" pitchFamily="34" charset="0"/>
              </a:rPr>
              <a:t>Analytical thinker with a knack for solving complex problems.</a:t>
            </a:r>
            <a:endParaRPr lang="en-GB" sz="1800" kern="1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15000"/>
              </a:lnSpc>
              <a:spcBef>
                <a:spcPts val="600"/>
              </a:spcBef>
              <a:spcAft>
                <a:spcPts val="600"/>
              </a:spcAft>
              <a:buSzPts val="1000"/>
              <a:buFont typeface="Symbol" panose="05050102010706020507" pitchFamily="18" charset="2"/>
              <a:buChar char=""/>
              <a:tabLst>
                <a:tab pos="457200" algn="l"/>
              </a:tabLst>
            </a:pPr>
            <a:r>
              <a:rPr lang="en-GB" sz="1800" b="1" kern="100" dirty="0">
                <a:effectLst/>
                <a:latin typeface="Calibri" panose="020F0502020204030204" pitchFamily="34" charset="0"/>
                <a:ea typeface="Calibri" panose="020F0502020204030204" pitchFamily="34" charset="0"/>
                <a:cs typeface="Calibri" panose="020F0502020204030204" pitchFamily="34" charset="0"/>
              </a:rPr>
              <a:t>Quick to adapt to new tools and technologies.</a:t>
            </a:r>
            <a:endParaRPr lang="en-GB" sz="1800" kern="1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15000"/>
              </a:lnSpc>
              <a:spcBef>
                <a:spcPts val="600"/>
              </a:spcBef>
              <a:spcAft>
                <a:spcPts val="600"/>
              </a:spcAft>
              <a:buSzPts val="1000"/>
              <a:buFont typeface="Symbol" panose="05050102010706020507" pitchFamily="18" charset="2"/>
              <a:buChar char=""/>
              <a:tabLst>
                <a:tab pos="457200" algn="l"/>
              </a:tabLst>
            </a:pPr>
            <a:r>
              <a:rPr lang="en-GB" sz="1800" b="1" kern="100" dirty="0">
                <a:effectLst/>
                <a:latin typeface="Calibri" panose="020F0502020204030204" pitchFamily="34" charset="0"/>
                <a:ea typeface="Calibri" panose="020F0502020204030204" pitchFamily="34" charset="0"/>
                <a:cs typeface="Calibri" panose="020F0502020204030204" pitchFamily="34" charset="0"/>
              </a:rPr>
              <a:t>Effective at diagnosing and resolving issues.</a:t>
            </a:r>
            <a:endParaRPr lang="en-GB" sz="1800" kern="100" dirty="0">
              <a:effectLst/>
              <a:latin typeface="Calibri" panose="020F0502020204030204" pitchFamily="34" charset="0"/>
              <a:ea typeface="Calibri" panose="020F0502020204030204" pitchFamily="34" charset="0"/>
              <a:cs typeface="Calibri" panose="020F0502020204030204" pitchFamily="34" charset="0"/>
            </a:endParaRPr>
          </a:p>
          <a:p>
            <a:pPr marL="0" indent="0">
              <a:lnSpc>
                <a:spcPct val="115000"/>
              </a:lnSpc>
              <a:spcBef>
                <a:spcPts val="600"/>
              </a:spcBef>
              <a:spcAft>
                <a:spcPts val="600"/>
              </a:spcAft>
              <a:buNone/>
            </a:pPr>
            <a:r>
              <a:rPr lang="en-GB" sz="1800" b="1" kern="100" dirty="0">
                <a:effectLst/>
                <a:latin typeface="Calibri" panose="020F0502020204030204" pitchFamily="34" charset="0"/>
                <a:ea typeface="Calibri" panose="020F0502020204030204" pitchFamily="34" charset="0"/>
                <a:cs typeface="Calibri" panose="020F0502020204030204" pitchFamily="34" charset="0"/>
              </a:rPr>
              <a:t>COMMUNICATION AND TEAMWORK</a:t>
            </a:r>
            <a:endParaRPr lang="en-GB" sz="1800" kern="1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15000"/>
              </a:lnSpc>
              <a:spcBef>
                <a:spcPts val="600"/>
              </a:spcBef>
              <a:spcAft>
                <a:spcPts val="600"/>
              </a:spcAft>
              <a:buSzPts val="1000"/>
              <a:buFont typeface="Symbol" panose="05050102010706020507" pitchFamily="18" charset="2"/>
              <a:buChar char=""/>
              <a:tabLst>
                <a:tab pos="457200" algn="l"/>
              </a:tabLst>
            </a:pPr>
            <a:r>
              <a:rPr lang="en-GB" sz="1800" b="1" kern="100" dirty="0">
                <a:effectLst/>
                <a:latin typeface="Calibri" panose="020F0502020204030204" pitchFamily="34" charset="0"/>
                <a:ea typeface="Calibri" panose="020F0502020204030204" pitchFamily="34" charset="0"/>
                <a:cs typeface="Calibri" panose="020F0502020204030204" pitchFamily="34" charset="0"/>
              </a:rPr>
              <a:t>Clear and concise in articulating findings and recommendations.</a:t>
            </a:r>
            <a:endParaRPr lang="en-GB" sz="1800" kern="1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15000"/>
              </a:lnSpc>
              <a:spcBef>
                <a:spcPts val="600"/>
              </a:spcBef>
              <a:spcAft>
                <a:spcPts val="600"/>
              </a:spcAft>
              <a:buSzPts val="1000"/>
              <a:buFont typeface="Symbol" panose="05050102010706020507" pitchFamily="18" charset="2"/>
              <a:buChar char=""/>
              <a:tabLst>
                <a:tab pos="457200" algn="l"/>
              </a:tabLst>
            </a:pPr>
            <a:r>
              <a:rPr lang="en-GB" sz="1800" b="1" kern="100" dirty="0">
                <a:effectLst/>
                <a:latin typeface="Calibri" panose="020F0502020204030204" pitchFamily="34" charset="0"/>
                <a:ea typeface="Calibri" panose="020F0502020204030204" pitchFamily="34" charset="0"/>
                <a:cs typeface="Calibri" panose="020F0502020204030204" pitchFamily="34" charset="0"/>
              </a:rPr>
              <a:t>Thrive in collaborative team environments.</a:t>
            </a:r>
            <a:endParaRPr lang="en-GB" sz="1800" kern="1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15000"/>
              </a:lnSpc>
              <a:spcBef>
                <a:spcPts val="600"/>
              </a:spcBef>
              <a:spcAft>
                <a:spcPts val="600"/>
              </a:spcAft>
              <a:buSzPts val="1000"/>
              <a:buFont typeface="Symbol" panose="05050102010706020507" pitchFamily="18" charset="2"/>
              <a:buChar char=""/>
              <a:tabLst>
                <a:tab pos="457200" algn="l"/>
              </a:tabLst>
            </a:pPr>
            <a:r>
              <a:rPr lang="en-GB" sz="1800" b="1" kern="100" dirty="0">
                <a:effectLst/>
                <a:latin typeface="Calibri" panose="020F0502020204030204" pitchFamily="34" charset="0"/>
                <a:ea typeface="Calibri" panose="020F0502020204030204" pitchFamily="34" charset="0"/>
                <a:cs typeface="Calibri" panose="020F0502020204030204" pitchFamily="34" charset="0"/>
              </a:rPr>
              <a:t>Believe in open communication for successful project outcomes.</a:t>
            </a:r>
            <a:endParaRPr lang="en-GB" sz="1800" kern="100" dirty="0">
              <a:effectLst/>
              <a:latin typeface="Calibri" panose="020F0502020204030204" pitchFamily="34" charset="0"/>
              <a:ea typeface="Calibri" panose="020F0502020204030204" pitchFamily="34" charset="0"/>
              <a:cs typeface="Calibri" panose="020F0502020204030204" pitchFamily="34" charset="0"/>
            </a:endParaRPr>
          </a:p>
          <a:p>
            <a:pPr marL="0" indent="0">
              <a:lnSpc>
                <a:spcPct val="115000"/>
              </a:lnSpc>
              <a:spcBef>
                <a:spcPts val="600"/>
              </a:spcBef>
              <a:spcAft>
                <a:spcPts val="600"/>
              </a:spcAft>
              <a:buNone/>
            </a:pPr>
            <a:r>
              <a:rPr lang="en-GB" sz="1800" b="1" kern="100" dirty="0">
                <a:effectLst/>
                <a:latin typeface="Calibri" panose="020F0502020204030204" pitchFamily="34" charset="0"/>
                <a:ea typeface="Calibri" panose="020F0502020204030204" pitchFamily="34" charset="0"/>
                <a:cs typeface="Calibri" panose="020F0502020204030204" pitchFamily="34" charset="0"/>
              </a:rPr>
              <a:t>PASSION AND COMMITMENT</a:t>
            </a:r>
            <a:endParaRPr lang="en-GB" sz="1800" kern="1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15000"/>
              </a:lnSpc>
              <a:spcBef>
                <a:spcPts val="600"/>
              </a:spcBef>
              <a:spcAft>
                <a:spcPts val="600"/>
              </a:spcAft>
              <a:buSzPts val="1000"/>
              <a:buFont typeface="Symbol" panose="05050102010706020507" pitchFamily="18" charset="2"/>
              <a:buChar char=""/>
              <a:tabLst>
                <a:tab pos="457200" algn="l"/>
              </a:tabLst>
            </a:pPr>
            <a:r>
              <a:rPr lang="en-GB" sz="1800" b="1" kern="100" dirty="0">
                <a:effectLst/>
                <a:latin typeface="Calibri" panose="020F0502020204030204" pitchFamily="34" charset="0"/>
                <a:ea typeface="Calibri" panose="020F0502020204030204" pitchFamily="34" charset="0"/>
                <a:cs typeface="Calibri" panose="020F0502020204030204" pitchFamily="34" charset="0"/>
              </a:rPr>
              <a:t>Enthusiastic about delivering high-quality software.</a:t>
            </a:r>
            <a:endParaRPr lang="en-GB" sz="1800" kern="1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15000"/>
              </a:lnSpc>
              <a:spcBef>
                <a:spcPts val="600"/>
              </a:spcBef>
              <a:spcAft>
                <a:spcPts val="600"/>
              </a:spcAft>
              <a:buSzPts val="1000"/>
              <a:buFont typeface="Symbol" panose="05050102010706020507" pitchFamily="18" charset="2"/>
              <a:buChar char=""/>
              <a:tabLst>
                <a:tab pos="457200" algn="l"/>
              </a:tabLst>
            </a:pPr>
            <a:r>
              <a:rPr lang="en-GB" sz="1800" b="1" kern="100" dirty="0">
                <a:effectLst/>
                <a:latin typeface="Calibri" panose="020F0502020204030204" pitchFamily="34" charset="0"/>
                <a:ea typeface="Calibri" panose="020F0502020204030204" pitchFamily="34" charset="0"/>
                <a:cs typeface="Calibri" panose="020F0502020204030204" pitchFamily="34" charset="0"/>
              </a:rPr>
              <a:t>Committed to continuous improvement and skill development.</a:t>
            </a:r>
            <a:endParaRPr lang="en-GB" sz="1800" kern="1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15000"/>
              </a:lnSpc>
              <a:spcBef>
                <a:spcPts val="600"/>
              </a:spcBef>
              <a:spcAft>
                <a:spcPts val="600"/>
              </a:spcAft>
              <a:buSzPts val="1000"/>
              <a:buFont typeface="Symbol" panose="05050102010706020507" pitchFamily="18" charset="2"/>
              <a:buChar char=""/>
              <a:tabLst>
                <a:tab pos="457200" algn="l"/>
              </a:tabLst>
            </a:pPr>
            <a:r>
              <a:rPr lang="en-GB" sz="1800" b="1" kern="100" dirty="0">
                <a:effectLst/>
                <a:latin typeface="Calibri" panose="020F0502020204030204" pitchFamily="34" charset="0"/>
                <a:ea typeface="Calibri" panose="020F0502020204030204" pitchFamily="34" charset="0"/>
                <a:cs typeface="Calibri" panose="020F0502020204030204" pitchFamily="34" charset="0"/>
              </a:rPr>
              <a:t>Eager to learn and grow within the role.</a:t>
            </a:r>
            <a:endParaRPr lang="en-GB" sz="1800" kern="100" dirty="0">
              <a:effectLst/>
              <a:latin typeface="Calibri" panose="020F0502020204030204" pitchFamily="34" charset="0"/>
              <a:ea typeface="Calibri" panose="020F0502020204030204" pitchFamily="34" charset="0"/>
              <a:cs typeface="Calibri" panose="020F0502020204030204" pitchFamily="34" charset="0"/>
            </a:endParaRPr>
          </a:p>
          <a:p>
            <a:pPr marL="0" lvl="0" indent="0">
              <a:lnSpc>
                <a:spcPct val="115000"/>
              </a:lnSpc>
              <a:spcBef>
                <a:spcPts val="600"/>
              </a:spcBef>
              <a:spcAft>
                <a:spcPts val="600"/>
              </a:spcAft>
              <a:buSzPts val="1000"/>
              <a:buNone/>
              <a:tabLst>
                <a:tab pos="457200" algn="l"/>
              </a:tabLst>
            </a:pPr>
            <a:r>
              <a:rPr lang="en-GB" sz="1800" b="1" kern="100" dirty="0">
                <a:effectLst/>
                <a:latin typeface="Calibri" panose="020F0502020204030204" pitchFamily="34" charset="0"/>
                <a:ea typeface="Calibri" panose="020F0502020204030204" pitchFamily="34" charset="0"/>
                <a:cs typeface="Calibri" panose="020F0502020204030204" pitchFamily="34" charset="0"/>
              </a:rPr>
              <a:t>I AM EXCITED ABOUT THE OPPORTUNITY TO CONTRIBUTE TO YOUR TEAM AND HELP DELIVER EXCEPTIONAL SOFTWARE PRODUCTS. THANK YOU FOR CONSIDERING MY APPLICATION!</a:t>
            </a:r>
            <a:endParaRPr lang="en-GB" sz="1800" kern="100" dirty="0">
              <a:effectLst/>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GB"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6506838"/>
      </p:ext>
    </p:extLst>
  </p:cSld>
  <p:clrMapOvr>
    <a:masterClrMapping/>
  </p:clrMapOvr>
</p:sld>
</file>

<file path=ppt/theme/theme1.xml><?xml version="1.0" encoding="utf-8"?>
<a:theme xmlns:a="http://schemas.openxmlformats.org/drawingml/2006/main" name="InterweaveVTI">
  <a:themeElements>
    <a:clrScheme name="AnalogousFromDarkSeedLeftStep">
      <a:dk1>
        <a:srgbClr val="000000"/>
      </a:dk1>
      <a:lt1>
        <a:srgbClr val="FFFFFF"/>
      </a:lt1>
      <a:dk2>
        <a:srgbClr val="1A212E"/>
      </a:dk2>
      <a:lt2>
        <a:srgbClr val="F0F3F1"/>
      </a:lt2>
      <a:accent1>
        <a:srgbClr val="E729A7"/>
      </a:accent1>
      <a:accent2>
        <a:srgbClr val="C517D5"/>
      </a:accent2>
      <a:accent3>
        <a:srgbClr val="8829E7"/>
      </a:accent3>
      <a:accent4>
        <a:srgbClr val="3E30D9"/>
      </a:accent4>
      <a:accent5>
        <a:srgbClr val="2968E7"/>
      </a:accent5>
      <a:accent6>
        <a:srgbClr val="17A5D5"/>
      </a:accent6>
      <a:hlink>
        <a:srgbClr val="3F54BF"/>
      </a:hlink>
      <a:folHlink>
        <a:srgbClr val="7F7F7F"/>
      </a:folHlink>
    </a:clrScheme>
    <a:fontScheme name="Interweave">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rweaveVTI" id="{2A5AE21D-FC75-4AD0-BC12-FA563BC24905}" vid="{9A4A41B8-EB69-44BB-8E15-B517E25CF8CA}"/>
    </a:ext>
  </a:extLst>
</a:theme>
</file>

<file path=docMetadata/LabelInfo.xml><?xml version="1.0" encoding="utf-8"?>
<clbl:labelList xmlns:clbl="http://schemas.microsoft.com/office/2020/mipLabelMetadata">
  <clbl:label id="{b839781e-d56b-4888-86e9-5298077b8149}" enabled="1" method="Standard" siteId="{87d48f5f-7eb6-48dd-b269-dae3dea931b5}" contentBits="2" removed="0"/>
</clbl:labelList>
</file>

<file path=docProps/app.xml><?xml version="1.0" encoding="utf-8"?>
<Properties xmlns="http://schemas.openxmlformats.org/officeDocument/2006/extended-properties" xmlns:vt="http://schemas.openxmlformats.org/officeDocument/2006/docPropsVTypes">
  <Template/>
  <TotalTime>862</TotalTime>
  <Words>594</Words>
  <Application>Microsoft Office PowerPoint</Application>
  <PresentationFormat>Widescreen</PresentationFormat>
  <Paragraphs>53</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Aptos</vt:lpstr>
      <vt:lpstr>Arial</vt:lpstr>
      <vt:lpstr>Calibri</vt:lpstr>
      <vt:lpstr>Courier New</vt:lpstr>
      <vt:lpstr>Neue Haas Grotesk Text Pro</vt:lpstr>
      <vt:lpstr>Symbol</vt:lpstr>
      <vt:lpstr>InterweaveVTI</vt:lpstr>
      <vt:lpstr>Video app testing task</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Mihaela Maxim</dc:creator>
  <cp:lastModifiedBy>Mihaela Maxim</cp:lastModifiedBy>
  <cp:revision>4</cp:revision>
  <dcterms:created xsi:type="dcterms:W3CDTF">2024-12-06T16:13:01Z</dcterms:created>
  <dcterms:modified xsi:type="dcterms:W3CDTF">2024-12-07T06:45:23Z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InterweaveVTI:8</vt:lpwstr>
  </property>
  <property fmtid="{D5CDD505-2E9C-101B-9397-08002B2CF9AE}" pid="3" name="ClassificationContentMarkingFooterText">
    <vt:lpwstr>Classified - General</vt:lpwstr>
  </property>
</Properties>
</file>